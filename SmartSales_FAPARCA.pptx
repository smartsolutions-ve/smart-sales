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31E33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36576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10528" y="36576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86016" y="36576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61504" y="36576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936992" y="36576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36576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137160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510528" y="137160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86016" y="137160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61504" y="137160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936992" y="137160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0" y="137160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0" y="237744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237744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986016" y="237744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461504" y="237744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936992" y="237744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0" y="237744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35040" y="338328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10528" y="338328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986016" y="338328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61504" y="338328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936992" y="338328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0" y="3383280"/>
            <a:ext cx="54864" cy="54864"/>
          </a:xfrm>
          <a:prstGeom prst="ellipse">
            <a:avLst/>
          </a:prstGeom>
          <a:solidFill>
            <a:srgbClr val="C8973A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274320"/>
            <a:ext cx="2011680" cy="347472"/>
          </a:xfrm>
          <a:prstGeom prst="rect">
            <a:avLst/>
          </a:prstGeom>
          <a:solidFill>
            <a:srgbClr val="C8973A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2743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UKARASOFT TECHNOLOGY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0040" y="777240"/>
            <a:ext cx="1463040" cy="256032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777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2B4A"/>
                </a:solidFill>
              </a:rPr>
              <a:t>PROPUESTA COMERCIAL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0040" y="1261872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SmartSales</a:t>
            </a:r>
            <a:endParaRPr lang="en-US" sz="6400" dirty="0"/>
          </a:p>
        </p:txBody>
      </p:sp>
      <p:sp>
        <p:nvSpPr>
          <p:cNvPr id="33" name="Text 31"/>
          <p:cNvSpPr/>
          <p:nvPr/>
        </p:nvSpPr>
        <p:spPr>
          <a:xfrm>
            <a:off x="320040" y="221284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i="1" dirty="0">
                <a:solidFill>
                  <a:srgbClr val="C8973A"/>
                </a:solidFill>
              </a:rPr>
              <a:t>para FAPARCA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320040" y="3017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0CC"/>
                </a:solidFill>
              </a:rPr>
              <a:t>Sistema de Gestión Comercial Inteligente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0B0CC"/>
                </a:solidFill>
              </a:rPr>
              <a:t>Diseñado para crecer con tu empresa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43600" y="1188720"/>
            <a:ext cx="27432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943600" y="11887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73A"/>
                </a:solidFill>
              </a:rPr>
              <a:t>10+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5943600" y="1719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</a:rPr>
              <a:t>Módulos activos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2377440"/>
            <a:ext cx="27432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43600" y="23774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73A"/>
                </a:solidFill>
              </a:rPr>
              <a:t>48/48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943600" y="29077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</a:rPr>
              <a:t>Tests aprobados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43600" y="3566160"/>
            <a:ext cx="2743200" cy="914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943600" y="35661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73A"/>
                </a:solidFill>
              </a:rPr>
              <a:t>99.9%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5943600" y="40965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</a:rPr>
              <a:t>Uptime garantizado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B4A"/>
                </a:solidFill>
              </a:rPr>
              <a:t>Guanare, Portuguesa — Venezuela   | 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943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¿Quiénes Somos?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B4A"/>
                </a:solidFill>
              </a:rPr>
              <a:t>Ukarasoft Technology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Somos una empresa de desarrollo de software con base en Guanare, Portuguesa. Creamos SmartSales: un sistema de gestión comercial SaaS diseñado específicamente para empresas venezolanas que necesitan control, visibilidad y eficiencia en sus ventas.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1325880"/>
            <a:ext cx="1874520" cy="146304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325880"/>
            <a:ext cx="1874520" cy="50292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5087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02352" y="1920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Tecnología Local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102352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Hecho en Venezuela para Venezuela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086600" y="1325880"/>
            <a:ext cx="1874520" cy="146304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86600" y="1325880"/>
            <a:ext cx="1874520" cy="50292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5087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59752" y="1920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Seguridad Total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159752" y="2331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Multi-tenant, roles y HTTPS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029200" y="3017520"/>
            <a:ext cx="1874520" cy="146304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0" y="3017520"/>
            <a:ext cx="1874520" cy="50292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32004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02352" y="3611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Datos en Tiempo Real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102352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Dashboard KPIs instantáneos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7086600" y="3017520"/>
            <a:ext cx="1874520" cy="146304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86600" y="3017520"/>
            <a:ext cx="1874520" cy="50292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2004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59752" y="3611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Adaptable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59752" y="40233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Configurado para tu operación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28" name="Text 22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090B0"/>
                </a:solidFill>
              </a:rPr>
              <a:t>SmartSales  |  Ukarasoft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943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El Reto de FAPARCA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4320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7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4904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73A"/>
                </a:solidFill>
              </a:rPr>
              <a:t>Pedidos sin trazabilidad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29768" y="196596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Difícil saber qué pidió cada cliente, cuándo y en qué estado está.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74320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73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49047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73A"/>
                </a:solidFill>
              </a:rPr>
              <a:t>Despacho desorganizado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55848" y="196596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Coordinación de envíos sin visibilidad centralizada en tiempo real.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72200" y="1325880"/>
            <a:ext cx="274320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73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49047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66560" y="1463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73A"/>
                </a:solidFill>
              </a:rPr>
              <a:t>Vendedores en campo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81928" y="196596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Sin herramienta móvil para registrar pedidos ni competencia al instante.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0040" y="3063240"/>
            <a:ext cx="274320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73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22783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4400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73A"/>
                </a:solidFill>
              </a:rPr>
              <a:t>Datos dispersos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29768" y="37033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Informes en hojas de Excel, sin KPIs ni análisis consolidado.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46120" y="3063240"/>
            <a:ext cx="274320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73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22783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73A"/>
                </a:solidFill>
              </a:rPr>
              <a:t>Facturación manual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355848" y="37033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Control de facturas por cliente sin cruce automático con pedidos.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172200" y="3063240"/>
            <a:ext cx="274320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973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227832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66560" y="32004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73A"/>
                </a:solidFill>
              </a:rPr>
              <a:t>Sin control de cuotas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281928" y="3703320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Imposible comparar meta de ventas vs. real por vendedor o zona.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0" name="Text 22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070A0"/>
                </a:solidFill>
              </a:rPr>
              <a:t>SmartSales  |  Ukarasoft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943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Todo lo que Necesitan, en un Solo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1554480" cy="59436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Dashboard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011680" y="132588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11680" y="1325880"/>
            <a:ext cx="1554480" cy="59436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600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Pedidos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749040" y="132588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749040" y="1325880"/>
            <a:ext cx="1554480" cy="59436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6002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9476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Clientes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0" y="132588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86400" y="1325880"/>
            <a:ext cx="1554480" cy="59436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6002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3212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Productos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223760" y="132588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23760" y="1325880"/>
            <a:ext cx="1554480" cy="59436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60020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9480" y="2240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Despacho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274320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74320" y="3108960"/>
            <a:ext cx="1554480" cy="5943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38328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2004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Campo Móvil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2011680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2011680" y="3108960"/>
            <a:ext cx="1554480" cy="59436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3383280"/>
            <a:ext cx="457200" cy="4572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05740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Facturación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3749040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3749040" y="3108960"/>
            <a:ext cx="1554480" cy="59436"/>
          </a:xfrm>
          <a:prstGeom prst="rect">
            <a:avLst/>
          </a:prstGeom>
          <a:solidFill>
            <a:srgbClr val="BE185D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3383280"/>
            <a:ext cx="457200" cy="45720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79476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Cuotas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5486400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486400" y="3108960"/>
            <a:ext cx="1554480" cy="59436"/>
          </a:xfrm>
          <a:prstGeom prst="rect">
            <a:avLst/>
          </a:prstGeom>
          <a:solidFill>
            <a:srgbClr val="4338CA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3383280"/>
            <a:ext cx="457200" cy="45720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53212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Flotas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7223760" y="3108960"/>
            <a:ext cx="1554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7223760" y="3108960"/>
            <a:ext cx="1554480" cy="59436"/>
          </a:xfrm>
          <a:prstGeom prst="rect">
            <a:avLst/>
          </a:prstGeom>
          <a:solidFill>
            <a:srgbClr val="C8973A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0" y="3383280"/>
            <a:ext cx="457200" cy="4572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269480" y="4023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Chat IA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6" name="Text 34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090B0"/>
                </a:solidFill>
              </a:rPr>
              <a:t>SmartSales  |  Ukarasoft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943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Su Data, Protegida al Máximo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44168"/>
            <a:ext cx="329184" cy="329184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Aislamiento multi-tenant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Cada empresa en su silo — nadie ve datos ajenos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2185416"/>
            <a:ext cx="329184" cy="329184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1671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HTTPS + SSL Let's Encrypt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Renovación automática. Todo cifrado en tránsito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026664"/>
            <a:ext cx="329184" cy="329184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0083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Roles diferenciados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3101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Gerente / Vendedor / Superadmin — acceso por función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67912"/>
            <a:ext cx="329184" cy="329184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8496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Contraseñas con hash bcrypt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1513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Nunca almacenadas en texto plano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344168"/>
            <a:ext cx="329184" cy="329184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344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1325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Anti-CSRF en cada petición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6276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Protección automática en formularios y HTMX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185416"/>
            <a:ext cx="329184" cy="329184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1671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Backups automáticos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24688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pg_dump programado + snapshots en DigitalOcean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026664"/>
            <a:ext cx="329184" cy="329184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026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0" y="300837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Auditoría de acciones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310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Log de quién hizo qué y cuándo en pedidos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867912"/>
            <a:ext cx="329184" cy="329184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8496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Suspensión instantánea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41513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Si FAPARCA necesita pausar acceso — un clic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1188720"/>
            <a:ext cx="0" cy="3383280"/>
          </a:xfrm>
          <a:prstGeom prst="line">
            <a:avLst/>
          </a:prstGeom>
          <a:noFill/>
          <a:ln w="12700">
            <a:solidFill>
              <a:srgbClr val="C8973A"/>
            </a:solidFill>
            <a:prstDash val="dot"/>
          </a:ln>
        </p:spPr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070A0"/>
                </a:solidFill>
              </a:rPr>
              <a:t>SmartSales  |  Ukarasoft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943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Rendimiento Preparado para Crecer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137160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96596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3A"/>
                </a:solidFill>
              </a:rPr>
              <a:t>50,000+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0CC"/>
                </a:solidFill>
              </a:rPr>
              <a:t>Productos sin problema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965960" cy="137160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325880"/>
            <a:ext cx="196596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3A"/>
                </a:solidFill>
              </a:rPr>
              <a:t>100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0CC"/>
                </a:solidFill>
              </a:rPr>
              <a:t>Vendedores simultáneos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325880"/>
            <a:ext cx="1965960" cy="137160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325880"/>
            <a:ext cx="196596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3A"/>
                </a:solidFill>
              </a:rPr>
              <a:t>99.9%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0CC"/>
                </a:solidFill>
              </a:rPr>
              <a:t>Disponibilidad online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66560" y="1325880"/>
            <a:ext cx="1965960" cy="137160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1325880"/>
            <a:ext cx="1965960" cy="64008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73A"/>
                </a:solidFill>
              </a:rPr>
              <a:t>&lt;200ms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219456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0CC"/>
                </a:solidFill>
              </a:rPr>
              <a:t>Respuesta HTMX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2B4A"/>
                </a:solidFill>
              </a:rPr>
              <a:t>Stack Tecnológico Probado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429000"/>
            <a:ext cx="3931920" cy="347472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429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Backend: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645920" y="34290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Django 5.2 + Python 3.12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3429000"/>
            <a:ext cx="3931920" cy="34747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3429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Base de datos: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52160" y="34290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PostgreSQL 16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849624"/>
            <a:ext cx="3931920" cy="347472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29" name="Text 27"/>
          <p:cNvSpPr/>
          <p:nvPr/>
        </p:nvSpPr>
        <p:spPr>
          <a:xfrm>
            <a:off x="429768" y="38496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Frontend: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645920" y="38496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HTMX + Alpine.js + Tailwind CSS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26280" y="3849624"/>
            <a:ext cx="3931920" cy="34747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2" name="Text 30"/>
          <p:cNvSpPr/>
          <p:nvPr/>
        </p:nvSpPr>
        <p:spPr>
          <a:xfrm>
            <a:off x="4636008" y="38496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Deploy: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52160" y="384962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Docker + Nginx + DigitalOcean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270248"/>
            <a:ext cx="3931920" cy="347472"/>
          </a:xfrm>
          <a:prstGeom prst="rect">
            <a:avLst/>
          </a:prstGeom>
          <a:solidFill>
            <a:srgbClr val="EEF4FF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4270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Email: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645920" y="42702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Resend API — 3,000 emails/mes gratis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26280" y="4270248"/>
            <a:ext cx="3931920" cy="34747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8" name="Text 36"/>
          <p:cNvSpPr/>
          <p:nvPr/>
        </p:nvSpPr>
        <p:spPr>
          <a:xfrm>
            <a:off x="4636008" y="4270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SSL/HTTPS: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52160" y="427024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Let's Encrypt — renovación automática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090B0"/>
                </a:solidFill>
              </a:rPr>
              <a:t>SmartSales  |  Ukarasoft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943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Inteligencia Artificial Integrada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8973A"/>
                </a:solidFill>
              </a:rPr>
              <a:t>Asistente IA en Tiempo Real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SmartSales incluye un asistente de inteligencia artificial conectado directamente a los datos de FAPARCA. Pregunta al sistema en lenguaje natural y obtén respuestas al instante.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438912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017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¿Cuántos pedidos están pendientes hoy?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438912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¿Cómo va el cumplimiento de cuotas este mes?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438912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576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Dame un resumen del negocio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438912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¿Cuánto falta por facturar?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4297680"/>
            <a:ext cx="4389120" cy="2743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BD5E1"/>
                </a:solidFill>
              </a:rPr>
              <a:t>💬 ¿Qué zonas tienen mejor rendimiento?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1325880"/>
            <a:ext cx="192024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Análisis de ventas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KPIs en lenguaje natural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86600" y="1325880"/>
            <a:ext cx="192024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508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Alertas inteligentes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804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Pedidos urgentes, stock bajo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3063240"/>
            <a:ext cx="192024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Cumplimiento cuotas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Plan vs real por zona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86600" y="3063240"/>
            <a:ext cx="1920240" cy="15087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897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3246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Histórico completo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3840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50 mensajes de contexto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3840480"/>
            <a:ext cx="3794760" cy="530352"/>
          </a:xfrm>
          <a:prstGeom prst="rect">
            <a:avLst/>
          </a:prstGeom>
          <a:solidFill>
            <a:srgbClr val="C8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0" y="3840480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4A"/>
                </a:solidFill>
              </a:rPr>
              <a:t>Powered by Google Gemini  |  Backend intercambiable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070A0"/>
                </a:solidFill>
              </a:rPr>
              <a:t>SmartSales  |  Ukarasoft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943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Implementación: 3–4 Semanas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1600200" cy="320040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371600"/>
            <a:ext cx="457200" cy="45720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4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C8973A"/>
                </a:solidFill>
              </a:rPr>
              <a:t>Días 1–5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28600" y="2240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Pre-implementación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6032" y="28803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Reunión de relevamiento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3355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Estructura de productos FAPARCA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" y="38313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Configuración cuentas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83080" y="1554480"/>
            <a:ext cx="182880" cy="4572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14" name="Shape 12"/>
          <p:cNvSpPr/>
          <p:nvPr/>
        </p:nvSpPr>
        <p:spPr>
          <a:xfrm>
            <a:off x="1965960" y="1234440"/>
            <a:ext cx="1600200" cy="320040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371600"/>
            <a:ext cx="457200" cy="45720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4A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11680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C8973A"/>
                </a:solidFill>
              </a:rPr>
              <a:t>Días 6–7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11680" y="2240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Deploy Técnico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39112" y="28803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Servidor en producción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039112" y="3355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Docker + Nginx + SSL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039112" y="38313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Base de datos PostgreSQL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566160" y="1554480"/>
            <a:ext cx="182880" cy="4572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3" name="Shape 21"/>
          <p:cNvSpPr/>
          <p:nvPr/>
        </p:nvSpPr>
        <p:spPr>
          <a:xfrm>
            <a:off x="3749040" y="1234440"/>
            <a:ext cx="1600200" cy="320040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25112" y="1371600"/>
            <a:ext cx="457200" cy="45720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25" name="Text 23"/>
          <p:cNvSpPr/>
          <p:nvPr/>
        </p:nvSpPr>
        <p:spPr>
          <a:xfrm>
            <a:off x="432511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4A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94760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C8973A"/>
                </a:solidFill>
              </a:rPr>
              <a:t>Días 8–10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94760" y="2240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Carga de Datos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22192" y="28803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Catálogo de harinas y pastas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22192" y="3355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Clientes y vendedores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22192" y="38313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Cuotas de ventas iniciales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49240" y="1554480"/>
            <a:ext cx="182880" cy="4572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2" name="Shape 30"/>
          <p:cNvSpPr/>
          <p:nvPr/>
        </p:nvSpPr>
        <p:spPr>
          <a:xfrm>
            <a:off x="5532120" y="1234440"/>
            <a:ext cx="1600200" cy="320040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08192" y="1371600"/>
            <a:ext cx="457200" cy="45720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34" name="Text 32"/>
          <p:cNvSpPr/>
          <p:nvPr/>
        </p:nvSpPr>
        <p:spPr>
          <a:xfrm>
            <a:off x="610819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4A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77840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C8973A"/>
                </a:solidFill>
              </a:rPr>
              <a:t>Días 11–14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77840" y="2240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Capacitación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05272" y="28803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Sesión gerentes (2h)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605272" y="3355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Sesión vendedores (1h)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05272" y="38313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Manual y soporte WhatsApp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32320" y="1554480"/>
            <a:ext cx="182880" cy="4572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1" name="Shape 39"/>
          <p:cNvSpPr/>
          <p:nvPr/>
        </p:nvSpPr>
        <p:spPr>
          <a:xfrm>
            <a:off x="7315200" y="1234440"/>
            <a:ext cx="1600200" cy="3200400"/>
          </a:xfrm>
          <a:prstGeom prst="rect">
            <a:avLst/>
          </a:prstGeom>
          <a:solidFill>
            <a:srgbClr val="1C2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891272" y="1371600"/>
            <a:ext cx="457200" cy="457200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43" name="Text 41"/>
          <p:cNvSpPr/>
          <p:nvPr/>
        </p:nvSpPr>
        <p:spPr>
          <a:xfrm>
            <a:off x="789127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4A"/>
                </a:solidFill>
              </a:rPr>
              <a:t>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360920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dirty="0">
                <a:solidFill>
                  <a:srgbClr val="C8973A"/>
                </a:solidFill>
              </a:rPr>
              <a:t>Semanas 3–4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60920" y="22402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Marcha Blanca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88352" y="288036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Uso real con soporte diario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88352" y="3355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Ajustes finos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88352" y="383133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• Go-live oficial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82880" y="4572000"/>
            <a:ext cx="8778240" cy="182880"/>
          </a:xfrm>
          <a:prstGeom prst="rect">
            <a:avLst/>
          </a:prstGeom>
          <a:solidFill>
            <a:srgbClr val="C8973A">
              <a:alpha val="3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5720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4A"/>
                </a:solidFill>
              </a:rPr>
              <a:t>✓ 3 meses de soporte técnico correctivo incluido post lanzamiento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090B0"/>
                </a:solidFill>
              </a:rPr>
              <a:t>SmartSales  |  Ukarasoft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943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Inversión y Costos Operativos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23360" cy="3246120"/>
          </a:xfrm>
          <a:prstGeom prst="rect">
            <a:avLst/>
          </a:prstGeom>
          <a:solidFill>
            <a:srgbClr val="FFFFFF">
              <a:alpha val="6000"/>
            </a:srgbClr>
          </a:solidFill>
          <a:ln w="19050">
            <a:solidFill>
              <a:srgbClr val="C897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4023360" cy="59436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389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73A"/>
                </a:solidFill>
              </a:rPr>
              <a:t>Infraestructura Mensual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965960"/>
            <a:ext cx="3840480" cy="420624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6596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Servidor DigitalOcean (recomendado)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0" y="19659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8973A"/>
                </a:solidFill>
              </a:rPr>
              <a:t>$12 USD/mes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459736"/>
            <a:ext cx="3840480" cy="420624"/>
          </a:xfrm>
          <a:prstGeom prst="rect">
            <a:avLst/>
          </a:prstGeom>
          <a:solidFill>
            <a:srgbClr val="F0F4FF">
              <a:alpha val="9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4597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SSL — Let's Encrypt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0" y="24597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8973A"/>
                </a:solidFill>
              </a:rPr>
              <a:t>$0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953512"/>
            <a:ext cx="3840480" cy="420624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9535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Email Resend (3,000/mes)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0" y="295351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8973A"/>
                </a:solidFill>
              </a:rPr>
              <a:t>$0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447288"/>
            <a:ext cx="3840480" cy="420624"/>
          </a:xfrm>
          <a:prstGeom prst="rect">
            <a:avLst/>
          </a:prstGeom>
          <a:solidFill>
            <a:srgbClr val="F0F4FF">
              <a:alpha val="9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44728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Dominio (.com)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0" y="344728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8973A"/>
                </a:solidFill>
              </a:rPr>
              <a:t>~$1.25 USD/mes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941064"/>
            <a:ext cx="3840480" cy="420624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410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Backups automáticos semanales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0" y="39410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8973A"/>
                </a:solidFill>
              </a:rPr>
              <a:t>$2.40 USD/mes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443984"/>
            <a:ext cx="3840480" cy="36576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4439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C2B4A"/>
                </a:solidFill>
              </a:rPr>
              <a:t>TOTAL INFRAESTRUCTURA: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0" y="444398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C2B4A"/>
                </a:solidFill>
              </a:rPr>
              <a:t>~$16 USD/mes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1325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8973A"/>
                </a:solidFill>
              </a:rPr>
              <a:t>Capacidad del Sistema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874520"/>
            <a:ext cx="4114800" cy="4206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187452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Productos en catálogo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0" y="18745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50,000+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368296"/>
            <a:ext cx="4114800" cy="4206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36829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Clientes registrados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0" y="2368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20,000+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862072"/>
            <a:ext cx="4114800" cy="4206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86207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Vendedores simultáneos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15200" y="28620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50–100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355848"/>
            <a:ext cx="4114800" cy="4206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3558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Pedidos por mes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15200" y="335584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5,000–10,000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849624"/>
            <a:ext cx="4114800" cy="420624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384962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Historial de pedidos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315200" y="384962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 años+ sin degradación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6344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8973A"/>
                </a:solidFill>
              </a:rPr>
              <a:t>Escalar: Un clic en DigitalOcean — sin cambio de código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070A0"/>
                </a:solidFill>
              </a:rPr>
              <a:t>SmartSales  |  Ukarasoft Technology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¿Por qué SmartSales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para FAPARCA?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719072"/>
            <a:ext cx="1828800" cy="54864"/>
          </a:xfrm>
          <a:prstGeom prst="rect">
            <a:avLst/>
          </a:prstGeom>
          <a:solidFill>
            <a:srgbClr val="C897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65960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 Online: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Multi-usuario, datos al instante desde cualquier dispositivo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523744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96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Visibilidad Total: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4963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KPIs, cuotas plan/real, facturación y flotas en un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81528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54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Vendedor en Campo: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3054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App móvil para crear pedidos y registrar competencia en tiempo real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11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IA Integrada: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Preguntas en lenguaje natural sobre los datos reales del negocio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197096"/>
            <a:ext cx="201168" cy="201168"/>
          </a:xfrm>
          <a:prstGeom prst="ellipse">
            <a:avLst/>
          </a:prstGeom>
          <a:solidFill>
            <a:srgbClr val="C8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696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Seguro y Escalable: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Infraestructura Docker en la nube, backups y SSL automáticos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411480"/>
            <a:ext cx="2743200" cy="4114800"/>
          </a:xfrm>
          <a:prstGeom prst="rect">
            <a:avLst/>
          </a:prstGeom>
          <a:solidFill>
            <a:srgbClr val="C897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411480"/>
            <a:ext cx="2743200" cy="64008"/>
          </a:xfrm>
          <a:prstGeom prst="rect">
            <a:avLst/>
          </a:prstGeom>
          <a:solidFill>
            <a:srgbClr val="9C6F1A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548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4A"/>
                </a:solidFill>
              </a:rPr>
              <a:t>Próximos Pasos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1234440"/>
            <a:ext cx="365760" cy="36576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1234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Reunión de alineación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(½ hora)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46520" y="2002536"/>
            <a:ext cx="365760" cy="36576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200253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Demo en vivo del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sistema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2770632"/>
            <a:ext cx="365760" cy="36576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277063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Acuerdo de alcance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y precio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46520" y="3538728"/>
            <a:ext cx="365760" cy="365760"/>
          </a:xfrm>
          <a:prstGeom prst="ellipse">
            <a:avLst/>
          </a:prstGeom>
          <a:solidFill>
            <a:srgbClr val="1C2B4A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73A"/>
                </a:solidFill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3538728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Implementación en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C2B4A"/>
                </a:solidFill>
              </a:rPr>
              <a:t>3–4 semanas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72200" y="41605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4D10"/>
                </a:solidFill>
              </a:rPr>
              <a:t>Contacto: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4407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B4A"/>
                </a:solidFill>
              </a:rPr>
              <a:t>info@ukarasoft.com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C2B4A"/>
                </a:solidFill>
              </a:rPr>
              <a:t>Guanare, Portuguesa — Venezuela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1A2C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973A"/>
                </a:solidFill>
              </a:rPr>
              <a:t>«Del llano pal' mundo — con tecnología que lo hace posible»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SmartSales para FAPARCA</dc:title>
  <dc:subject>PptxGenJS Presentation</dc:subject>
  <dc:creator>PptxGenJS</dc:creator>
  <cp:lastModifiedBy>PptxGenJS</cp:lastModifiedBy>
  <cp:revision>1</cp:revision>
  <dcterms:created xsi:type="dcterms:W3CDTF">2026-03-24T23:39:47Z</dcterms:created>
  <dcterms:modified xsi:type="dcterms:W3CDTF">2026-03-24T23:39:47Z</dcterms:modified>
</cp:coreProperties>
</file>