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792224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359152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3493008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059936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5193792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7648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894576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61504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28432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0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25296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1792224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2359152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493008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059936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626864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5193792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27648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6894576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7461504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8028432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8595360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1225296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7" name="Shape 35"/>
          <p:cNvSpPr/>
          <p:nvPr/>
        </p:nvSpPr>
        <p:spPr>
          <a:xfrm>
            <a:off x="1792224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2359152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9" name="Shape 37"/>
          <p:cNvSpPr/>
          <p:nvPr/>
        </p:nvSpPr>
        <p:spPr>
          <a:xfrm>
            <a:off x="2926080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0" name="Shape 38"/>
          <p:cNvSpPr/>
          <p:nvPr/>
        </p:nvSpPr>
        <p:spPr>
          <a:xfrm>
            <a:off x="3493008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4059936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4626864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3" name="Shape 41"/>
          <p:cNvSpPr/>
          <p:nvPr/>
        </p:nvSpPr>
        <p:spPr>
          <a:xfrm>
            <a:off x="5193792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4" name="Shape 42"/>
          <p:cNvSpPr/>
          <p:nvPr/>
        </p:nvSpPr>
        <p:spPr>
          <a:xfrm>
            <a:off x="5760720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5" name="Shape 43"/>
          <p:cNvSpPr/>
          <p:nvPr/>
        </p:nvSpPr>
        <p:spPr>
          <a:xfrm>
            <a:off x="6327648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6" name="Shape 44"/>
          <p:cNvSpPr/>
          <p:nvPr/>
        </p:nvSpPr>
        <p:spPr>
          <a:xfrm>
            <a:off x="6894576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7" name="Shape 45"/>
          <p:cNvSpPr/>
          <p:nvPr/>
        </p:nvSpPr>
        <p:spPr>
          <a:xfrm>
            <a:off x="7461504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9" name="Shape 47"/>
          <p:cNvSpPr/>
          <p:nvPr/>
        </p:nvSpPr>
        <p:spPr>
          <a:xfrm>
            <a:off x="8595360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1" name="Shape 49"/>
          <p:cNvSpPr/>
          <p:nvPr/>
        </p:nvSpPr>
        <p:spPr>
          <a:xfrm>
            <a:off x="658368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2" name="Shape 50"/>
          <p:cNvSpPr/>
          <p:nvPr/>
        </p:nvSpPr>
        <p:spPr>
          <a:xfrm>
            <a:off x="1225296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3" name="Shape 51"/>
          <p:cNvSpPr/>
          <p:nvPr/>
        </p:nvSpPr>
        <p:spPr>
          <a:xfrm>
            <a:off x="1792224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4" name="Shape 52"/>
          <p:cNvSpPr/>
          <p:nvPr/>
        </p:nvSpPr>
        <p:spPr>
          <a:xfrm>
            <a:off x="2359152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2926080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6" name="Shape 54"/>
          <p:cNvSpPr/>
          <p:nvPr/>
        </p:nvSpPr>
        <p:spPr>
          <a:xfrm>
            <a:off x="3493008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7" name="Shape 55"/>
          <p:cNvSpPr/>
          <p:nvPr/>
        </p:nvSpPr>
        <p:spPr>
          <a:xfrm>
            <a:off x="4059936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8" name="Shape 56"/>
          <p:cNvSpPr/>
          <p:nvPr/>
        </p:nvSpPr>
        <p:spPr>
          <a:xfrm>
            <a:off x="4626864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9" name="Shape 57"/>
          <p:cNvSpPr/>
          <p:nvPr/>
        </p:nvSpPr>
        <p:spPr>
          <a:xfrm>
            <a:off x="5193792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0" name="Shape 58"/>
          <p:cNvSpPr/>
          <p:nvPr/>
        </p:nvSpPr>
        <p:spPr>
          <a:xfrm>
            <a:off x="5760720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1" name="Shape 59"/>
          <p:cNvSpPr/>
          <p:nvPr/>
        </p:nvSpPr>
        <p:spPr>
          <a:xfrm>
            <a:off x="6327648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2" name="Shape 60"/>
          <p:cNvSpPr/>
          <p:nvPr/>
        </p:nvSpPr>
        <p:spPr>
          <a:xfrm>
            <a:off x="6894576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3" name="Shape 61"/>
          <p:cNvSpPr/>
          <p:nvPr/>
        </p:nvSpPr>
        <p:spPr>
          <a:xfrm>
            <a:off x="7461504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4" name="Shape 62"/>
          <p:cNvSpPr/>
          <p:nvPr/>
        </p:nvSpPr>
        <p:spPr>
          <a:xfrm>
            <a:off x="8028432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5" name="Shape 63"/>
          <p:cNvSpPr/>
          <p:nvPr/>
        </p:nvSpPr>
        <p:spPr>
          <a:xfrm>
            <a:off x="8595360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7" name="Shape 65"/>
          <p:cNvSpPr/>
          <p:nvPr/>
        </p:nvSpPr>
        <p:spPr>
          <a:xfrm>
            <a:off x="658368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8" name="Shape 66"/>
          <p:cNvSpPr/>
          <p:nvPr/>
        </p:nvSpPr>
        <p:spPr>
          <a:xfrm>
            <a:off x="1225296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9" name="Shape 67"/>
          <p:cNvSpPr/>
          <p:nvPr/>
        </p:nvSpPr>
        <p:spPr>
          <a:xfrm>
            <a:off x="1792224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0" name="Shape 68"/>
          <p:cNvSpPr/>
          <p:nvPr/>
        </p:nvSpPr>
        <p:spPr>
          <a:xfrm>
            <a:off x="2359152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1" name="Shape 69"/>
          <p:cNvSpPr/>
          <p:nvPr/>
        </p:nvSpPr>
        <p:spPr>
          <a:xfrm>
            <a:off x="2926080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2" name="Shape 70"/>
          <p:cNvSpPr/>
          <p:nvPr/>
        </p:nvSpPr>
        <p:spPr>
          <a:xfrm>
            <a:off x="3493008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3" name="Shape 71"/>
          <p:cNvSpPr/>
          <p:nvPr/>
        </p:nvSpPr>
        <p:spPr>
          <a:xfrm>
            <a:off x="4059936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4" name="Shape 72"/>
          <p:cNvSpPr/>
          <p:nvPr/>
        </p:nvSpPr>
        <p:spPr>
          <a:xfrm>
            <a:off x="4626864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5" name="Shape 73"/>
          <p:cNvSpPr/>
          <p:nvPr/>
        </p:nvSpPr>
        <p:spPr>
          <a:xfrm>
            <a:off x="5193792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6" name="Shape 74"/>
          <p:cNvSpPr/>
          <p:nvPr/>
        </p:nvSpPr>
        <p:spPr>
          <a:xfrm>
            <a:off x="5760720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7" name="Shape 75"/>
          <p:cNvSpPr/>
          <p:nvPr/>
        </p:nvSpPr>
        <p:spPr>
          <a:xfrm>
            <a:off x="6327648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8" name="Shape 76"/>
          <p:cNvSpPr/>
          <p:nvPr/>
        </p:nvSpPr>
        <p:spPr>
          <a:xfrm>
            <a:off x="6894576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9" name="Shape 77"/>
          <p:cNvSpPr/>
          <p:nvPr/>
        </p:nvSpPr>
        <p:spPr>
          <a:xfrm>
            <a:off x="7461504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0" name="Shape 78"/>
          <p:cNvSpPr/>
          <p:nvPr/>
        </p:nvSpPr>
        <p:spPr>
          <a:xfrm>
            <a:off x="8028432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1" name="Shape 79"/>
          <p:cNvSpPr/>
          <p:nvPr/>
        </p:nvSpPr>
        <p:spPr>
          <a:xfrm>
            <a:off x="8595360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2" name="Shape 80"/>
          <p:cNvSpPr/>
          <p:nvPr/>
        </p:nvSpPr>
        <p:spPr>
          <a:xfrm>
            <a:off x="91440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3" name="Shape 81"/>
          <p:cNvSpPr/>
          <p:nvPr/>
        </p:nvSpPr>
        <p:spPr>
          <a:xfrm>
            <a:off x="658368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4" name="Shape 82"/>
          <p:cNvSpPr/>
          <p:nvPr/>
        </p:nvSpPr>
        <p:spPr>
          <a:xfrm>
            <a:off x="1225296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5" name="Shape 83"/>
          <p:cNvSpPr/>
          <p:nvPr/>
        </p:nvSpPr>
        <p:spPr>
          <a:xfrm>
            <a:off x="1792224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6" name="Shape 84"/>
          <p:cNvSpPr/>
          <p:nvPr/>
        </p:nvSpPr>
        <p:spPr>
          <a:xfrm>
            <a:off x="2359152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7" name="Shape 85"/>
          <p:cNvSpPr/>
          <p:nvPr/>
        </p:nvSpPr>
        <p:spPr>
          <a:xfrm>
            <a:off x="2926080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8" name="Shape 86"/>
          <p:cNvSpPr/>
          <p:nvPr/>
        </p:nvSpPr>
        <p:spPr>
          <a:xfrm>
            <a:off x="3493008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9" name="Shape 87"/>
          <p:cNvSpPr/>
          <p:nvPr/>
        </p:nvSpPr>
        <p:spPr>
          <a:xfrm>
            <a:off x="4059936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0" name="Shape 88"/>
          <p:cNvSpPr/>
          <p:nvPr/>
        </p:nvSpPr>
        <p:spPr>
          <a:xfrm>
            <a:off x="4626864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1" name="Shape 89"/>
          <p:cNvSpPr/>
          <p:nvPr/>
        </p:nvSpPr>
        <p:spPr>
          <a:xfrm>
            <a:off x="5193792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2" name="Shape 90"/>
          <p:cNvSpPr/>
          <p:nvPr/>
        </p:nvSpPr>
        <p:spPr>
          <a:xfrm>
            <a:off x="5760720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3" name="Shape 91"/>
          <p:cNvSpPr/>
          <p:nvPr/>
        </p:nvSpPr>
        <p:spPr>
          <a:xfrm>
            <a:off x="6327648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4" name="Shape 92"/>
          <p:cNvSpPr/>
          <p:nvPr/>
        </p:nvSpPr>
        <p:spPr>
          <a:xfrm>
            <a:off x="6894576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5" name="Shape 93"/>
          <p:cNvSpPr/>
          <p:nvPr/>
        </p:nvSpPr>
        <p:spPr>
          <a:xfrm>
            <a:off x="7461504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6" name="Shape 94"/>
          <p:cNvSpPr/>
          <p:nvPr/>
        </p:nvSpPr>
        <p:spPr>
          <a:xfrm>
            <a:off x="8028432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7" name="Shape 95"/>
          <p:cNvSpPr/>
          <p:nvPr/>
        </p:nvSpPr>
        <p:spPr>
          <a:xfrm>
            <a:off x="8595360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8" name="Shape 96"/>
          <p:cNvSpPr/>
          <p:nvPr/>
        </p:nvSpPr>
        <p:spPr>
          <a:xfrm>
            <a:off x="91440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9" name="Shape 97"/>
          <p:cNvSpPr/>
          <p:nvPr/>
        </p:nvSpPr>
        <p:spPr>
          <a:xfrm>
            <a:off x="658368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0" name="Shape 98"/>
          <p:cNvSpPr/>
          <p:nvPr/>
        </p:nvSpPr>
        <p:spPr>
          <a:xfrm>
            <a:off x="1225296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1" name="Shape 99"/>
          <p:cNvSpPr/>
          <p:nvPr/>
        </p:nvSpPr>
        <p:spPr>
          <a:xfrm>
            <a:off x="1792224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359152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926080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493008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059936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626864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193792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760720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327648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894576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461504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028432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595360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1440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58368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225296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792224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359152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926080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3493008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059936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626864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193792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760720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27648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894576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7" name="Shape 125"/>
          <p:cNvSpPr/>
          <p:nvPr/>
        </p:nvSpPr>
        <p:spPr>
          <a:xfrm>
            <a:off x="7461504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028432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9" name="Shape 127"/>
          <p:cNvSpPr/>
          <p:nvPr/>
        </p:nvSpPr>
        <p:spPr>
          <a:xfrm>
            <a:off x="8595360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0" name="Shape 128"/>
          <p:cNvSpPr/>
          <p:nvPr/>
        </p:nvSpPr>
        <p:spPr>
          <a:xfrm>
            <a:off x="5943600" y="-457200"/>
            <a:ext cx="4114800" cy="4572000"/>
          </a:xfrm>
          <a:prstGeom prst="ellipse">
            <a:avLst/>
          </a:prstGeom>
          <a:solidFill>
            <a:srgbClr val="0066FF">
              <a:alpha val="12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2" name="Shape 130"/>
          <p:cNvSpPr/>
          <p:nvPr/>
        </p:nvSpPr>
        <p:spPr>
          <a:xfrm>
            <a:off x="320040" y="256032"/>
            <a:ext cx="2377440" cy="310896"/>
          </a:xfrm>
          <a:prstGeom prst="rect">
            <a:avLst/>
          </a:prstGeom>
          <a:solidFill>
            <a:srgbClr val="0066FF">
              <a:alpha val="85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20040" y="256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FFFFFF"/>
                </a:solidFill>
              </a:rPr>
              <a:t>SMARTSOLUTIONS VE  ·  PROPUESTA COMERCIAL</a:t>
            </a:r>
            <a:endParaRPr lang="en-US" sz="600" dirty="0"/>
          </a:p>
        </p:txBody>
      </p:sp>
      <p:sp>
        <p:nvSpPr>
          <p:cNvPr id="134" name="Text 132"/>
          <p:cNvSpPr/>
          <p:nvPr/>
        </p:nvSpPr>
        <p:spPr>
          <a:xfrm>
            <a:off x="320040" y="731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</a:t>
            </a:r>
            <a:endParaRPr lang="en-US" sz="2800" dirty="0"/>
          </a:p>
        </p:txBody>
      </p:sp>
      <p:sp>
        <p:nvSpPr>
          <p:cNvPr id="135" name="Shape 133"/>
          <p:cNvSpPr/>
          <p:nvPr/>
        </p:nvSpPr>
        <p:spPr>
          <a:xfrm>
            <a:off x="1627632" y="941832"/>
            <a:ext cx="109728" cy="109728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36" name="Text 134"/>
          <p:cNvSpPr/>
          <p:nvPr/>
        </p:nvSpPr>
        <p:spPr>
          <a:xfrm>
            <a:off x="32004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Solutions VE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320040" y="162763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SmartSales</a:t>
            </a:r>
            <a:endParaRPr lang="en-US" sz="6800" dirty="0"/>
          </a:p>
        </p:txBody>
      </p:sp>
      <p:sp>
        <p:nvSpPr>
          <p:cNvPr id="138" name="Text 136"/>
          <p:cNvSpPr/>
          <p:nvPr/>
        </p:nvSpPr>
        <p:spPr>
          <a:xfrm>
            <a:off x="320040" y="25786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FAPARCA</a:t>
            </a:r>
            <a:endParaRPr lang="en-US" sz="3800" dirty="0"/>
          </a:p>
        </p:txBody>
      </p:sp>
      <p:sp>
        <p:nvSpPr>
          <p:cNvPr id="139" name="Shape 137"/>
          <p:cNvSpPr/>
          <p:nvPr/>
        </p:nvSpPr>
        <p:spPr>
          <a:xfrm>
            <a:off x="320040" y="3310128"/>
            <a:ext cx="164592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0" name="Text 138"/>
          <p:cNvSpPr/>
          <p:nvPr/>
        </p:nvSpPr>
        <p:spPr>
          <a:xfrm>
            <a:off x="320040" y="34564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Sistema de Gestión Comercial Inteligente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Diseñado para crecer con tu operación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6492240" y="731520"/>
            <a:ext cx="2377440" cy="10972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2" name="Text 140"/>
          <p:cNvSpPr/>
          <p:nvPr/>
        </p:nvSpPr>
        <p:spPr>
          <a:xfrm>
            <a:off x="6492240" y="822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10+</a:t>
            </a:r>
            <a:endParaRPr lang="en-US" sz="3200" dirty="0"/>
          </a:p>
        </p:txBody>
      </p:sp>
      <p:sp>
        <p:nvSpPr>
          <p:cNvPr id="143" name="Text 141"/>
          <p:cNvSpPr/>
          <p:nvPr/>
        </p:nvSpPr>
        <p:spPr>
          <a:xfrm>
            <a:off x="64922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Módulos activos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6492240" y="2057400"/>
            <a:ext cx="2377440" cy="10972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5" name="Text 143"/>
          <p:cNvSpPr/>
          <p:nvPr/>
        </p:nvSpPr>
        <p:spPr>
          <a:xfrm>
            <a:off x="649224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48/48</a:t>
            </a:r>
            <a:endParaRPr lang="en-US" sz="3200" dirty="0"/>
          </a:p>
        </p:txBody>
      </p:sp>
      <p:sp>
        <p:nvSpPr>
          <p:cNvPr id="146" name="Text 144"/>
          <p:cNvSpPr/>
          <p:nvPr/>
        </p:nvSpPr>
        <p:spPr>
          <a:xfrm>
            <a:off x="649224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Tests aprobados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6492240" y="3383280"/>
            <a:ext cx="2377440" cy="10972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6492240" y="3474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99.9%</a:t>
            </a:r>
            <a:endParaRPr lang="en-US" sz="3200" dirty="0"/>
          </a:p>
        </p:txBody>
      </p:sp>
      <p:sp>
        <p:nvSpPr>
          <p:cNvPr id="149" name="Text 147"/>
          <p:cNvSpPr/>
          <p:nvPr/>
        </p:nvSpPr>
        <p:spPr>
          <a:xfrm>
            <a:off x="649224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Disponibilidad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151" name="Text 149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3D5080"/>
                </a:solidFill>
              </a:rPr>
              <a:t>Valencia, Carabobo, Venezuela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3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¿Quiénes Somos?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SmartSolutions 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128016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9968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Somos el aliado estratégico organizacional de empresas venezolanas. Bajo nuestra marca SmartSolutions VE, presentamos SmartSales: la solución que profesionaliza la gestión comercial de FAPARCA integrando datos en tiempo real con inteligencia artificial.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4114800" cy="713232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52400" dist="25400" dir="8100000">
              <a:srgbClr val="0066FF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6118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"Lo que no se mide, no se puede mejorar." — Lord Kelvin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325880"/>
            <a:ext cx="1920240" cy="150876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325880"/>
            <a:ext cx="1920240" cy="50292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27048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10912" y="19842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Tecnología Local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10912" y="2404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Hecho para Venezuela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95160" y="1325880"/>
            <a:ext cx="1920240" cy="150876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95160" y="1325880"/>
            <a:ext cx="1920240" cy="50292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2704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68312" y="19842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Total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068312" y="2404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Multi-tenant + HTTPS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937760" y="3063240"/>
            <a:ext cx="1920240" cy="150876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937760" y="3063240"/>
            <a:ext cx="1920240" cy="50292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26440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10912" y="372160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en Tiempo Real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010912" y="414223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KPIs instantáneos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995160" y="3063240"/>
            <a:ext cx="1920240" cy="150876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95160" y="3063240"/>
            <a:ext cx="1920240" cy="50292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264408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68312" y="372160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Adaptable a FAPARCA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068312" y="414223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Configurable por operación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E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090CC"/>
                </a:solidFill>
              </a:rPr>
              <a:t>SmartSolutions VE  ·  Procesos Alineados, Decisiones Inteligentes.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090CC"/>
                </a:solidFill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Reto de FAPARCA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61488" cy="1508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264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38988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Pedidos sin trazabilidad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4048" y="1920240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Difícil saber qué pidió cada cliente, cuándo y en qué estado está.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18688" y="1261872"/>
            <a:ext cx="2761488" cy="1508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2646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3048" y="138988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Despacho desorganizado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8416" y="1920240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Sin visibilidad centralizada de envíos en tiempo real.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63056" y="1261872"/>
            <a:ext cx="2761488" cy="1508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26464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57416" y="138988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Vendedores en campo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272784" y="1920240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Sin herramienta móvil para pedidos e inteligencia competitiva.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74320" y="2980944"/>
            <a:ext cx="2761488" cy="1508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14553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1089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dispersos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384048" y="36393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Informes en Excel, sin KPIs ni análisis consolidado.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18688" y="2980944"/>
            <a:ext cx="2761488" cy="1508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4553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13048" y="31089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Facturación manual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3328416" y="36393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Control de facturas sin cruce automático con pedidos.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163056" y="2980944"/>
            <a:ext cx="2761488" cy="15087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145536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57416" y="31089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control de cuotas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272784" y="36393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Imposible comparar meta vs. real por vendedor o zona.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0" name="Text 22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3D5080"/>
                </a:solidFill>
              </a:rPr>
              <a:t>SmartSolutions VE  ·  Procesos Alineados, Decisiones Inteligentes.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D5080"/>
                </a:solidFill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3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lo que Necesitan, en un Solo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61872"/>
            <a:ext cx="1572768" cy="54864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3464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84248" y="1261872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84248" y="1261872"/>
            <a:ext cx="1572768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39112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Pedidos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739896" y="1261872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739896" y="1261872"/>
            <a:ext cx="1572768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54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476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95544" y="1261872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95544" y="1261872"/>
            <a:ext cx="1572768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5544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50408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251192" y="1261872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51192" y="1261872"/>
            <a:ext cx="1572768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155448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06056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Despacho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228600" y="3017520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28600" y="3017520"/>
            <a:ext cx="1572768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310128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83464" y="39502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Campo Móvil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1984248" y="3017520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1984248" y="3017520"/>
            <a:ext cx="1572768" cy="5486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2032" y="3310128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039112" y="39502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Facturación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3739896" y="3017520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3739896" y="3017520"/>
            <a:ext cx="1572768" cy="54864"/>
          </a:xfrm>
          <a:prstGeom prst="rect">
            <a:avLst/>
          </a:prstGeom>
          <a:solidFill>
            <a:srgbClr val="BE185D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3310128"/>
            <a:ext cx="457200" cy="4572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794760" y="39502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Cuotas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5495544" y="3017520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495544" y="3017520"/>
            <a:ext cx="1572768" cy="54864"/>
          </a:xfrm>
          <a:prstGeom prst="rect">
            <a:avLst/>
          </a:prstGeom>
          <a:solidFill>
            <a:srgbClr val="4338CA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328" y="3310128"/>
            <a:ext cx="457200" cy="4572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550408" y="39502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Flotas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7251192" y="3017520"/>
            <a:ext cx="157276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7251192" y="3017520"/>
            <a:ext cx="1572768" cy="54864"/>
          </a:xfrm>
          <a:prstGeom prst="rect">
            <a:avLst/>
          </a:prstGeom>
          <a:solidFill>
            <a:srgbClr val="0066FF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8976" y="3310128"/>
            <a:ext cx="457200" cy="4572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306056" y="39502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Asistente IA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E"/>
          </a:solidFill>
          <a:ln/>
        </p:spPr>
      </p:sp>
      <p:sp>
        <p:nvSpPr>
          <p:cNvPr id="46" name="Text 34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090CC"/>
                </a:solidFill>
              </a:rPr>
              <a:t>SmartSolutions VE  ·  Procesos Alineados, Decisiones Inteligentes.</a:t>
            </a:r>
            <a:endParaRPr lang="en-US" sz="750" dirty="0"/>
          </a:p>
        </p:txBody>
      </p:sp>
      <p:sp>
        <p:nvSpPr>
          <p:cNvPr id="47" name="Text 3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090CC"/>
                </a:solidFill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 Data, Protegida al Máximo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10896" cy="31089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Aislamiento multi-tenant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Cada empresa en su silo — nadie ve datos ajenos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310896" cy="31089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 + SSL Let's Encrypt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Renovación automática. Todo cifrado en tránsito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310896" cy="31089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 diferenciados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Gerente / Vendedor / Superadmin por función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767328"/>
            <a:ext cx="310896" cy="31089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Contraseñas hash bcrypt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023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Nunca almacenadas en texto plano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298448"/>
            <a:ext cx="310896" cy="31089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Anti-CSRF automático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Protección en formularios y peticiones HTMX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121408"/>
            <a:ext cx="310896" cy="31089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Backups automáticos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377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pg_dump programado + snapshots DigitalOcean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944368"/>
            <a:ext cx="310896" cy="31089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Auditoría de acciones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Log de quién hizo qué y cuándo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767328"/>
            <a:ext cx="310896" cy="310896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Suspensión instantánea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4023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Control de acceso con un solo clic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1170432"/>
            <a:ext cx="0" cy="3474720"/>
          </a:xfrm>
          <a:prstGeom prst="line">
            <a:avLst/>
          </a:prstGeom>
          <a:noFill/>
          <a:ln w="12700">
            <a:solidFill>
              <a:srgbClr val="0066FF">
                <a:alpha val="50000"/>
              </a:srgbClr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3D5080"/>
                </a:solidFill>
              </a:rPr>
              <a:t>SmartSolutions VE  ·  Procesos Alineados, Decisiones Inteligentes.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D5080"/>
                </a:solidFill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3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Rendimiento Preparado para Crecer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993392" cy="1353312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52400" dist="25400" dir="8100000">
              <a:srgbClr val="0066F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1993392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Productos sin problema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261872"/>
            <a:ext cx="1993392" cy="1353312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52400" dist="25400" dir="8100000">
              <a:srgbClr val="0066FF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261872"/>
            <a:ext cx="1993392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41732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210312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Vendedores simultáneos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261872"/>
            <a:ext cx="1993392" cy="1353312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52400" dist="25400" dir="8100000">
              <a:srgbClr val="0066FF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261872"/>
            <a:ext cx="1993392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141732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210312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Disponibilidad online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1261872"/>
            <a:ext cx="1993392" cy="1353312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52400" dist="25400" dir="8100000">
              <a:srgbClr val="0066FF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261872"/>
            <a:ext cx="1993392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03136" y="141732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&lt;200ms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03136" y="210312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Respuesta HTMX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8346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128016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429000"/>
            <a:ext cx="4160520" cy="365760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4E"/>
                </a:solidFill>
              </a:rPr>
              <a:t>Backend: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Django 5.2 + Python 3.12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3429000"/>
            <a:ext cx="416052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448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4E"/>
                </a:solidFill>
              </a:rPr>
              <a:t>Base de datos: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PostgreSQL 16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858768"/>
            <a:ext cx="4160520" cy="365760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4E"/>
                </a:solidFill>
              </a:rPr>
              <a:t>Frontend: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0020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HTMX + Alpine.js + Tailwind CSS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3858768"/>
            <a:ext cx="416052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27448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4E"/>
                </a:solidFill>
              </a:rPr>
              <a:t>Deploy: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Docker + Nginx + DigitalOcean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88536"/>
            <a:ext cx="4160520" cy="365760"/>
          </a:xfrm>
          <a:prstGeom prst="rect">
            <a:avLst/>
          </a:prstGeom>
          <a:solidFill>
            <a:srgbClr val="E6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4288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4E"/>
                </a:solidFill>
              </a:rPr>
              <a:t>Email: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00200" y="4288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Resend API — 3,000 emails/mes gratis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4288536"/>
            <a:ext cx="416052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4727448" y="4288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4E"/>
                </a:solidFill>
              </a:rPr>
              <a:t>SSL/HTTPS: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4288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Let's Encrypt, renovación automática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E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090CC"/>
                </a:solidFill>
              </a:rPr>
              <a:t>SmartSolutions VE  ·  Procesos Alineados, Decisiones Inteligentes.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090CC"/>
                </a:solidFill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Inteligencia Artificial Integrada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Asistente IA en Tiempo Real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SmartSales incluye un asistente de IA conectado a los datos reales de FAPARCA. Pregunta en lenguaje natural y obtén respuestas al instante — sin reportes manuales.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4572000" cy="274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8803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 ¿Cuántos pedidos están pendientes hoy?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209544"/>
            <a:ext cx="4572000" cy="274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3209544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 ¿Cómo va el cumplimiento de cuotas este mes?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538728"/>
            <a:ext cx="4572000" cy="274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3538728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 Dame un resumen del negocio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867912"/>
            <a:ext cx="4572000" cy="274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86791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 ¿Cuánto falta por facturar?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197096"/>
            <a:ext cx="4572000" cy="2743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419709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 ¿Qué zonas tienen mejor rendimiento?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1261872"/>
            <a:ext cx="1828800" cy="1508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1261872"/>
            <a:ext cx="18288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30952" y="14447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ventas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0952" y="206654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KPIs en lenguaje natural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1261872"/>
            <a:ext cx="1828800" cy="1508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261872"/>
            <a:ext cx="18288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14447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inteligentes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96912" y="206654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Pedidos urgentes y vencidos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2999232"/>
            <a:ext cx="1828800" cy="1508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2999232"/>
            <a:ext cx="18288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30952" y="318211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cuotas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380390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Plan vs real por zona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2999232"/>
            <a:ext cx="1828800" cy="1508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2999232"/>
            <a:ext cx="18288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1" name="Text 29"/>
          <p:cNvSpPr/>
          <p:nvPr/>
        </p:nvSpPr>
        <p:spPr>
          <a:xfrm>
            <a:off x="7296912" y="318211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Historial completo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96912" y="380390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50 mensajes de contexto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57800" y="3867912"/>
            <a:ext cx="3749040" cy="502920"/>
          </a:xfrm>
          <a:prstGeom prst="rect">
            <a:avLst/>
          </a:prstGeom>
          <a:solidFill>
            <a:srgbClr val="0066FF"/>
          </a:solidFill>
          <a:ln/>
          <a:effectLst>
            <a:outerShdw sx="100000" sy="100000" kx="0" ky="0" algn="bl" rotWithShape="0" blurRad="152400" dist="25400" dir="8100000">
              <a:srgbClr val="0066FF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257800" y="3867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Powered by Google Gemini  ·  Backend intercambiable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3D5080"/>
                </a:solidFill>
              </a:rPr>
              <a:t>SmartSolutions VE  ·  Procesos Alineados, Decisiones Inteligentes.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D5080"/>
                </a:solidFill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23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Implementación: 3–4 Semanas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" y="1234440"/>
            <a:ext cx="1609344" cy="324612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1234440"/>
            <a:ext cx="1609344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1380744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380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" y="1947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0066FF"/>
                </a:solidFill>
              </a:rPr>
              <a:t>Días 1–5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0312" y="225856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Pre-implementación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284378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Reunión de relevamiento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" y="331927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Estructura de productos FAPARCA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" y="379476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Config. de cuentas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0" y="1563624"/>
            <a:ext cx="91440" cy="914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7672" y="1234440"/>
            <a:ext cx="1609344" cy="324612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47672" y="1234440"/>
            <a:ext cx="1609344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3744" y="1380744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8" name="Text 16"/>
          <p:cNvSpPr/>
          <p:nvPr/>
        </p:nvSpPr>
        <p:spPr>
          <a:xfrm>
            <a:off x="2523744" y="1380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93392" y="1947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0066FF"/>
                </a:solidFill>
              </a:rPr>
              <a:t>Días 6–7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993392" y="225856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Técnico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39112" y="284378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Servidor en producción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39112" y="331927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Docker + Nginx + SSL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39112" y="379476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PostgreSQL listo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11880" y="1563624"/>
            <a:ext cx="91440" cy="914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0752" y="1234440"/>
            <a:ext cx="1609344" cy="324612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30752" y="1234440"/>
            <a:ext cx="1609344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306824" y="1380744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06824" y="1380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76472" y="1947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0066FF"/>
                </a:solidFill>
              </a:rPr>
              <a:t>Días 8–10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776472" y="225856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 de Datos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22192" y="284378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Catálogo harinas y pastas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22192" y="331927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Clientes y vendedores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22192" y="379476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Cuotas iniciales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94960" y="1563624"/>
            <a:ext cx="91440" cy="914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513832" y="1234440"/>
            <a:ext cx="1609344" cy="324612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13832" y="1234440"/>
            <a:ext cx="1609344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089904" y="1380744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8" name="Text 36"/>
          <p:cNvSpPr/>
          <p:nvPr/>
        </p:nvSpPr>
        <p:spPr>
          <a:xfrm>
            <a:off x="6089904" y="1380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59552" y="1947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0066FF"/>
                </a:solidFill>
              </a:rPr>
              <a:t>Días 11–14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59552" y="225856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Capacitación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05272" y="284378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Sesión gerentes (2h)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605272" y="331927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Sesión vendedores (1h)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05272" y="379476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Manual + soporte WA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78040" y="1563624"/>
            <a:ext cx="91440" cy="914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296912" y="1234440"/>
            <a:ext cx="1609344" cy="3246120"/>
          </a:xfrm>
          <a:prstGeom prst="rect">
            <a:avLst/>
          </a:prstGeom>
          <a:solidFill>
            <a:srgbClr val="1A234E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96912" y="1234440"/>
            <a:ext cx="1609344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7" name="Shape 45"/>
          <p:cNvSpPr/>
          <p:nvPr/>
        </p:nvSpPr>
        <p:spPr>
          <a:xfrm>
            <a:off x="7872984" y="1380744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8" name="Text 46"/>
          <p:cNvSpPr/>
          <p:nvPr/>
        </p:nvSpPr>
        <p:spPr>
          <a:xfrm>
            <a:off x="7872984" y="1380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342632" y="1947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0066FF"/>
                </a:solidFill>
              </a:rPr>
              <a:t>Sem. 3–4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342632" y="2258568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Marcha Blanca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88352" y="2843784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Uso real con soporte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88352" y="3319272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Ajustes finos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88352" y="3794760"/>
            <a:ext cx="1426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Go-live oficial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4592" y="4590288"/>
            <a:ext cx="8814816" cy="182880"/>
          </a:xfrm>
          <a:prstGeom prst="rect">
            <a:avLst/>
          </a:prstGeom>
          <a:solidFill>
            <a:srgbClr val="0066FF">
              <a:alpha val="1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256032" y="459028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4E"/>
                </a:solidFill>
              </a:rPr>
              <a:t>✓  3 meses de soporte técnico correctivo incluido post lanzamiento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34E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090CC"/>
                </a:solidFill>
              </a:rPr>
              <a:t>SmartSolutions VE  ·  Procesos Alineados, Decisiones Inteligentes.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090CC"/>
                </a:solidFill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Inversión y Costos Operativos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60520" cy="3310128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006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416052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258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Infraestructura Mensual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883664"/>
            <a:ext cx="4005072" cy="402336"/>
          </a:xfrm>
          <a:prstGeom prst="rect">
            <a:avLst/>
          </a:prstGeom>
          <a:solidFill>
            <a:srgbClr val="FFFFFF">
              <a:alpha val="9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8366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Servidor DigitalOcean (recomendado)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18836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6FF"/>
                </a:solidFill>
              </a:rPr>
              <a:t>$12.00 USD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359152"/>
            <a:ext cx="4005072" cy="402336"/>
          </a:xfrm>
          <a:prstGeom prst="rect">
            <a:avLst/>
          </a:prstGeom>
          <a:solidFill>
            <a:srgbClr val="F0F5FF">
              <a:alpha val="9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59152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SSL — Let's Encrypt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23591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6FF"/>
                </a:solidFill>
              </a:rPr>
              <a:t>$0.00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834640"/>
            <a:ext cx="4005072" cy="402336"/>
          </a:xfrm>
          <a:prstGeom prst="rect">
            <a:avLst/>
          </a:prstGeom>
          <a:solidFill>
            <a:srgbClr val="FFFFFF">
              <a:alpha val="9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3464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Email Resend (3,000/mes)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28346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6FF"/>
                </a:solidFill>
              </a:rPr>
              <a:t>$0.00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3310128"/>
            <a:ext cx="4005072" cy="402336"/>
          </a:xfrm>
          <a:prstGeom prst="rect">
            <a:avLst/>
          </a:prstGeom>
          <a:solidFill>
            <a:srgbClr val="F0F5FF">
              <a:alpha val="9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1012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Dominio (.com)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08960" y="33101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6FF"/>
                </a:solidFill>
              </a:rPr>
              <a:t>$1.25 USD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785616"/>
            <a:ext cx="4005072" cy="402336"/>
          </a:xfrm>
          <a:prstGeom prst="rect">
            <a:avLst/>
          </a:prstGeom>
          <a:solidFill>
            <a:srgbClr val="FFFFFF">
              <a:alpha val="9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8561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Backups automáticos semanales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08960" y="37856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6FF"/>
                </a:solidFill>
              </a:rPr>
              <a:t>$2.40 USD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4297680"/>
            <a:ext cx="4005072" cy="20116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97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31720" y="42976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~$16 USD/mes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261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 del Sistema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828800"/>
            <a:ext cx="4114800" cy="42062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18288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Productos en catálogo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52360" y="182880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50,000+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331720"/>
            <a:ext cx="4114800" cy="42062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23317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Clientes registrados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52360" y="233172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20,000+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114800" cy="42062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28346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Vendedores simultáneos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283464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50–100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337560"/>
            <a:ext cx="4114800" cy="42062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33375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Pedidos por mes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52360" y="333756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5,000–10,000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420624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38404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Historial de pedidos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52360" y="3840480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años+ sin degradación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4434840"/>
            <a:ext cx="4114800" cy="320040"/>
          </a:xfrm>
          <a:prstGeom prst="rect">
            <a:avLst/>
          </a:prstGeom>
          <a:solidFill>
            <a:srgbClr val="1A234E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66FF"/>
                </a:solidFill>
              </a:rPr>
              <a:t>Escalar: un clic en DigitalOcean — sin cambiar código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0F1E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3D5080"/>
                </a:solidFill>
              </a:rPr>
              <a:t>SmartSolutions VE  ·  Procesos Alineados, Decisiones Inteligentes.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D5080"/>
                </a:solidFill>
              </a:rPr>
              <a:t>©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1792224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359152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3493008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059936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5193792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7648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894576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61504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28432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0" y="10972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25296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1792224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2359152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493008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059936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626864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5193792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27648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6894576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7461504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8028432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8595360" y="73152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1225296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7" name="Shape 35"/>
          <p:cNvSpPr/>
          <p:nvPr/>
        </p:nvSpPr>
        <p:spPr>
          <a:xfrm>
            <a:off x="1792224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2359152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9" name="Shape 37"/>
          <p:cNvSpPr/>
          <p:nvPr/>
        </p:nvSpPr>
        <p:spPr>
          <a:xfrm>
            <a:off x="2926080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0" name="Shape 38"/>
          <p:cNvSpPr/>
          <p:nvPr/>
        </p:nvSpPr>
        <p:spPr>
          <a:xfrm>
            <a:off x="3493008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4059936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4626864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3" name="Shape 41"/>
          <p:cNvSpPr/>
          <p:nvPr/>
        </p:nvSpPr>
        <p:spPr>
          <a:xfrm>
            <a:off x="5193792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4" name="Shape 42"/>
          <p:cNvSpPr/>
          <p:nvPr/>
        </p:nvSpPr>
        <p:spPr>
          <a:xfrm>
            <a:off x="5760720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5" name="Shape 43"/>
          <p:cNvSpPr/>
          <p:nvPr/>
        </p:nvSpPr>
        <p:spPr>
          <a:xfrm>
            <a:off x="6327648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6" name="Shape 44"/>
          <p:cNvSpPr/>
          <p:nvPr/>
        </p:nvSpPr>
        <p:spPr>
          <a:xfrm>
            <a:off x="6894576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7" name="Shape 45"/>
          <p:cNvSpPr/>
          <p:nvPr/>
        </p:nvSpPr>
        <p:spPr>
          <a:xfrm>
            <a:off x="7461504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8" name="Shape 46"/>
          <p:cNvSpPr/>
          <p:nvPr/>
        </p:nvSpPr>
        <p:spPr>
          <a:xfrm>
            <a:off x="8028432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9" name="Shape 47"/>
          <p:cNvSpPr/>
          <p:nvPr/>
        </p:nvSpPr>
        <p:spPr>
          <a:xfrm>
            <a:off x="8595360" y="135331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1" name="Shape 49"/>
          <p:cNvSpPr/>
          <p:nvPr/>
        </p:nvSpPr>
        <p:spPr>
          <a:xfrm>
            <a:off x="658368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2" name="Shape 50"/>
          <p:cNvSpPr/>
          <p:nvPr/>
        </p:nvSpPr>
        <p:spPr>
          <a:xfrm>
            <a:off x="1225296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3" name="Shape 51"/>
          <p:cNvSpPr/>
          <p:nvPr/>
        </p:nvSpPr>
        <p:spPr>
          <a:xfrm>
            <a:off x="1792224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4" name="Shape 52"/>
          <p:cNvSpPr/>
          <p:nvPr/>
        </p:nvSpPr>
        <p:spPr>
          <a:xfrm>
            <a:off x="2359152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2926080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6" name="Shape 54"/>
          <p:cNvSpPr/>
          <p:nvPr/>
        </p:nvSpPr>
        <p:spPr>
          <a:xfrm>
            <a:off x="3493008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7" name="Shape 55"/>
          <p:cNvSpPr/>
          <p:nvPr/>
        </p:nvSpPr>
        <p:spPr>
          <a:xfrm>
            <a:off x="4059936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8" name="Shape 56"/>
          <p:cNvSpPr/>
          <p:nvPr/>
        </p:nvSpPr>
        <p:spPr>
          <a:xfrm>
            <a:off x="4626864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9" name="Shape 57"/>
          <p:cNvSpPr/>
          <p:nvPr/>
        </p:nvSpPr>
        <p:spPr>
          <a:xfrm>
            <a:off x="5193792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0" name="Shape 58"/>
          <p:cNvSpPr/>
          <p:nvPr/>
        </p:nvSpPr>
        <p:spPr>
          <a:xfrm>
            <a:off x="5760720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1" name="Shape 59"/>
          <p:cNvSpPr/>
          <p:nvPr/>
        </p:nvSpPr>
        <p:spPr>
          <a:xfrm>
            <a:off x="6327648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2" name="Shape 60"/>
          <p:cNvSpPr/>
          <p:nvPr/>
        </p:nvSpPr>
        <p:spPr>
          <a:xfrm>
            <a:off x="6894576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3" name="Shape 61"/>
          <p:cNvSpPr/>
          <p:nvPr/>
        </p:nvSpPr>
        <p:spPr>
          <a:xfrm>
            <a:off x="7461504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4" name="Shape 62"/>
          <p:cNvSpPr/>
          <p:nvPr/>
        </p:nvSpPr>
        <p:spPr>
          <a:xfrm>
            <a:off x="8028432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5" name="Shape 63"/>
          <p:cNvSpPr/>
          <p:nvPr/>
        </p:nvSpPr>
        <p:spPr>
          <a:xfrm>
            <a:off x="8595360" y="1975104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7" name="Shape 65"/>
          <p:cNvSpPr/>
          <p:nvPr/>
        </p:nvSpPr>
        <p:spPr>
          <a:xfrm>
            <a:off x="658368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8" name="Shape 66"/>
          <p:cNvSpPr/>
          <p:nvPr/>
        </p:nvSpPr>
        <p:spPr>
          <a:xfrm>
            <a:off x="1225296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9" name="Shape 67"/>
          <p:cNvSpPr/>
          <p:nvPr/>
        </p:nvSpPr>
        <p:spPr>
          <a:xfrm>
            <a:off x="1792224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0" name="Shape 68"/>
          <p:cNvSpPr/>
          <p:nvPr/>
        </p:nvSpPr>
        <p:spPr>
          <a:xfrm>
            <a:off x="2359152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1" name="Shape 69"/>
          <p:cNvSpPr/>
          <p:nvPr/>
        </p:nvSpPr>
        <p:spPr>
          <a:xfrm>
            <a:off x="2926080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2" name="Shape 70"/>
          <p:cNvSpPr/>
          <p:nvPr/>
        </p:nvSpPr>
        <p:spPr>
          <a:xfrm>
            <a:off x="3493008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3" name="Shape 71"/>
          <p:cNvSpPr/>
          <p:nvPr/>
        </p:nvSpPr>
        <p:spPr>
          <a:xfrm>
            <a:off x="4059936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4" name="Shape 72"/>
          <p:cNvSpPr/>
          <p:nvPr/>
        </p:nvSpPr>
        <p:spPr>
          <a:xfrm>
            <a:off x="4626864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5" name="Shape 73"/>
          <p:cNvSpPr/>
          <p:nvPr/>
        </p:nvSpPr>
        <p:spPr>
          <a:xfrm>
            <a:off x="5193792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6" name="Shape 74"/>
          <p:cNvSpPr/>
          <p:nvPr/>
        </p:nvSpPr>
        <p:spPr>
          <a:xfrm>
            <a:off x="5760720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7" name="Shape 75"/>
          <p:cNvSpPr/>
          <p:nvPr/>
        </p:nvSpPr>
        <p:spPr>
          <a:xfrm>
            <a:off x="6327648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8" name="Shape 76"/>
          <p:cNvSpPr/>
          <p:nvPr/>
        </p:nvSpPr>
        <p:spPr>
          <a:xfrm>
            <a:off x="6894576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9" name="Shape 77"/>
          <p:cNvSpPr/>
          <p:nvPr/>
        </p:nvSpPr>
        <p:spPr>
          <a:xfrm>
            <a:off x="7461504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0" name="Shape 78"/>
          <p:cNvSpPr/>
          <p:nvPr/>
        </p:nvSpPr>
        <p:spPr>
          <a:xfrm>
            <a:off x="8028432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1" name="Shape 79"/>
          <p:cNvSpPr/>
          <p:nvPr/>
        </p:nvSpPr>
        <p:spPr>
          <a:xfrm>
            <a:off x="8595360" y="2596896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2" name="Shape 80"/>
          <p:cNvSpPr/>
          <p:nvPr/>
        </p:nvSpPr>
        <p:spPr>
          <a:xfrm>
            <a:off x="91440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3" name="Shape 81"/>
          <p:cNvSpPr/>
          <p:nvPr/>
        </p:nvSpPr>
        <p:spPr>
          <a:xfrm>
            <a:off x="658368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4" name="Shape 82"/>
          <p:cNvSpPr/>
          <p:nvPr/>
        </p:nvSpPr>
        <p:spPr>
          <a:xfrm>
            <a:off x="1225296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5" name="Shape 83"/>
          <p:cNvSpPr/>
          <p:nvPr/>
        </p:nvSpPr>
        <p:spPr>
          <a:xfrm>
            <a:off x="1792224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6" name="Shape 84"/>
          <p:cNvSpPr/>
          <p:nvPr/>
        </p:nvSpPr>
        <p:spPr>
          <a:xfrm>
            <a:off x="2359152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7" name="Shape 85"/>
          <p:cNvSpPr/>
          <p:nvPr/>
        </p:nvSpPr>
        <p:spPr>
          <a:xfrm>
            <a:off x="2926080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8" name="Shape 86"/>
          <p:cNvSpPr/>
          <p:nvPr/>
        </p:nvSpPr>
        <p:spPr>
          <a:xfrm>
            <a:off x="3493008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9" name="Shape 87"/>
          <p:cNvSpPr/>
          <p:nvPr/>
        </p:nvSpPr>
        <p:spPr>
          <a:xfrm>
            <a:off x="4059936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0" name="Shape 88"/>
          <p:cNvSpPr/>
          <p:nvPr/>
        </p:nvSpPr>
        <p:spPr>
          <a:xfrm>
            <a:off x="4626864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1" name="Shape 89"/>
          <p:cNvSpPr/>
          <p:nvPr/>
        </p:nvSpPr>
        <p:spPr>
          <a:xfrm>
            <a:off x="5193792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2" name="Shape 90"/>
          <p:cNvSpPr/>
          <p:nvPr/>
        </p:nvSpPr>
        <p:spPr>
          <a:xfrm>
            <a:off x="5760720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3" name="Shape 91"/>
          <p:cNvSpPr/>
          <p:nvPr/>
        </p:nvSpPr>
        <p:spPr>
          <a:xfrm>
            <a:off x="6327648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4" name="Shape 92"/>
          <p:cNvSpPr/>
          <p:nvPr/>
        </p:nvSpPr>
        <p:spPr>
          <a:xfrm>
            <a:off x="6894576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5" name="Shape 93"/>
          <p:cNvSpPr/>
          <p:nvPr/>
        </p:nvSpPr>
        <p:spPr>
          <a:xfrm>
            <a:off x="7461504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6" name="Shape 94"/>
          <p:cNvSpPr/>
          <p:nvPr/>
        </p:nvSpPr>
        <p:spPr>
          <a:xfrm>
            <a:off x="8028432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7" name="Shape 95"/>
          <p:cNvSpPr/>
          <p:nvPr/>
        </p:nvSpPr>
        <p:spPr>
          <a:xfrm>
            <a:off x="8595360" y="3218688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8" name="Shape 96"/>
          <p:cNvSpPr/>
          <p:nvPr/>
        </p:nvSpPr>
        <p:spPr>
          <a:xfrm>
            <a:off x="91440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9" name="Shape 97"/>
          <p:cNvSpPr/>
          <p:nvPr/>
        </p:nvSpPr>
        <p:spPr>
          <a:xfrm>
            <a:off x="658368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0" name="Shape 98"/>
          <p:cNvSpPr/>
          <p:nvPr/>
        </p:nvSpPr>
        <p:spPr>
          <a:xfrm>
            <a:off x="1225296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1" name="Shape 99"/>
          <p:cNvSpPr/>
          <p:nvPr/>
        </p:nvSpPr>
        <p:spPr>
          <a:xfrm>
            <a:off x="1792224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359152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926080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493008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059936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626864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193792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760720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327648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894576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461504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028432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595360" y="3840480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1440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58368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225296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792224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359152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926080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3493008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059936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626864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193792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760720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27648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894576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7" name="Shape 125"/>
          <p:cNvSpPr/>
          <p:nvPr/>
        </p:nvSpPr>
        <p:spPr>
          <a:xfrm>
            <a:off x="7461504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028432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9" name="Shape 127"/>
          <p:cNvSpPr/>
          <p:nvPr/>
        </p:nvSpPr>
        <p:spPr>
          <a:xfrm>
            <a:off x="8595360" y="4462272"/>
            <a:ext cx="36576" cy="3657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0" name="Shape 128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1" name="Text 129"/>
          <p:cNvSpPr/>
          <p:nvPr/>
        </p:nvSpPr>
        <p:spPr>
          <a:xfrm>
            <a:off x="365760" y="201168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SmartSales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FAPARCA?</a:t>
            </a:r>
            <a:endParaRPr lang="en-US" sz="3600" dirty="0"/>
          </a:p>
        </p:txBody>
      </p:sp>
      <p:sp>
        <p:nvSpPr>
          <p:cNvPr id="132" name="Shape 130"/>
          <p:cNvSpPr/>
          <p:nvPr/>
        </p:nvSpPr>
        <p:spPr>
          <a:xfrm>
            <a:off x="365760" y="1664208"/>
            <a:ext cx="182880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65760" y="1920240"/>
            <a:ext cx="182880" cy="18288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34" name="Text 132"/>
          <p:cNvSpPr/>
          <p:nvPr/>
        </p:nvSpPr>
        <p:spPr>
          <a:xfrm>
            <a:off x="658368" y="18928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Online: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2103120" y="1892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Multi-usuario, datos al instante desde cualquier dispositivo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365760" y="2468880"/>
            <a:ext cx="182880" cy="18288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37" name="Text 135"/>
          <p:cNvSpPr/>
          <p:nvPr/>
        </p:nvSpPr>
        <p:spPr>
          <a:xfrm>
            <a:off x="658368" y="24414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Visibilidad Total: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2103120" y="2441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KPIs, cuotas plan/real, facturación y flotas en un dashboard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365760" y="3017520"/>
            <a:ext cx="182880" cy="18288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40" name="Text 138"/>
          <p:cNvSpPr/>
          <p:nvPr/>
        </p:nvSpPr>
        <p:spPr>
          <a:xfrm>
            <a:off x="658368" y="29900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Vendedor en Campo: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2103120" y="2990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App móvil para pedidos e inteligencia competitiva en tiempo real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365760" y="3566160"/>
            <a:ext cx="182880" cy="18288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43" name="Text 141"/>
          <p:cNvSpPr/>
          <p:nvPr/>
        </p:nvSpPr>
        <p:spPr>
          <a:xfrm>
            <a:off x="658368" y="35387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Integrada:</a:t>
            </a:r>
            <a:endParaRPr lang="en-US" sz="1000" dirty="0"/>
          </a:p>
        </p:txBody>
      </p:sp>
      <p:sp>
        <p:nvSpPr>
          <p:cNvPr id="144" name="Text 142"/>
          <p:cNvSpPr/>
          <p:nvPr/>
        </p:nvSpPr>
        <p:spPr>
          <a:xfrm>
            <a:off x="2103120" y="35387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Preguntas en lenguaje natural sobre los datos reales del negocio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365760" y="4114800"/>
            <a:ext cx="182880" cy="18288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46" name="Text 144"/>
          <p:cNvSpPr/>
          <p:nvPr/>
        </p:nvSpPr>
        <p:spPr>
          <a:xfrm>
            <a:off x="658368" y="4087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Seguro y Escalable: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2103120" y="40873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Docker en la nube, SSL y backups automáticos incluidos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6263640" y="164592"/>
            <a:ext cx="2697480" cy="4315968"/>
          </a:xfrm>
          <a:prstGeom prst="rect">
            <a:avLst/>
          </a:prstGeom>
          <a:solidFill>
            <a:srgbClr val="1A234E"/>
          </a:solidFill>
          <a:ln w="12700">
            <a:solidFill>
              <a:srgbClr val="0066FF"/>
            </a:solidFill>
            <a:prstDash val="solid"/>
          </a:ln>
          <a:effectLst>
            <a:outerShdw sx="100000" sy="100000" kx="0" ky="0" algn="bl" rotWithShape="0" blurRad="152400" dist="25400" dir="8100000">
              <a:srgbClr val="0066FF">
                <a:alpha val="20000"/>
              </a:srgbClr>
            </a:outerShdw>
          </a:effectLst>
        </p:spPr>
      </p:sp>
      <p:sp>
        <p:nvSpPr>
          <p:cNvPr id="149" name="Shape 147"/>
          <p:cNvSpPr/>
          <p:nvPr/>
        </p:nvSpPr>
        <p:spPr>
          <a:xfrm>
            <a:off x="6263640" y="164592"/>
            <a:ext cx="2697480" cy="5029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50" name="Text 148"/>
          <p:cNvSpPr/>
          <p:nvPr/>
        </p:nvSpPr>
        <p:spPr>
          <a:xfrm>
            <a:off x="6309360" y="25603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151" name="Shape 149"/>
          <p:cNvSpPr/>
          <p:nvPr/>
        </p:nvSpPr>
        <p:spPr>
          <a:xfrm>
            <a:off x="6446520" y="932688"/>
            <a:ext cx="347472" cy="34747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52" name="Text 150"/>
          <p:cNvSpPr/>
          <p:nvPr/>
        </p:nvSpPr>
        <p:spPr>
          <a:xfrm>
            <a:off x="6446520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153" name="Text 151"/>
          <p:cNvSpPr/>
          <p:nvPr/>
        </p:nvSpPr>
        <p:spPr>
          <a:xfrm>
            <a:off x="6876288" y="93268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Reunión de alineación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(½ hora)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6446520" y="1719072"/>
            <a:ext cx="347472" cy="34747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55" name="Text 153"/>
          <p:cNvSpPr/>
          <p:nvPr/>
        </p:nvSpPr>
        <p:spPr>
          <a:xfrm>
            <a:off x="644652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156" name="Text 154"/>
          <p:cNvSpPr/>
          <p:nvPr/>
        </p:nvSpPr>
        <p:spPr>
          <a:xfrm>
            <a:off x="6876288" y="171907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Demo en vivo del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sistema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6446520" y="2505456"/>
            <a:ext cx="347472" cy="34747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58" name="Text 156"/>
          <p:cNvSpPr/>
          <p:nvPr/>
        </p:nvSpPr>
        <p:spPr>
          <a:xfrm>
            <a:off x="6446520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159" name="Text 157"/>
          <p:cNvSpPr/>
          <p:nvPr/>
        </p:nvSpPr>
        <p:spPr>
          <a:xfrm>
            <a:off x="6876288" y="2505456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Acuerdo de alcance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 precio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6446520" y="3291840"/>
            <a:ext cx="347472" cy="34747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61" name="Text 159"/>
          <p:cNvSpPr/>
          <p:nvPr/>
        </p:nvSpPr>
        <p:spPr>
          <a:xfrm>
            <a:off x="644652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162" name="Text 160"/>
          <p:cNvSpPr/>
          <p:nvPr/>
        </p:nvSpPr>
        <p:spPr>
          <a:xfrm>
            <a:off x="6876288" y="329184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Implementación 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3–4 semanas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6309360" y="4041648"/>
            <a:ext cx="2606040" cy="384048"/>
          </a:xfrm>
          <a:prstGeom prst="rect">
            <a:avLst/>
          </a:prstGeom>
          <a:solidFill>
            <a:srgbClr val="0066FF">
              <a:alpha val="15000"/>
            </a:srgbClr>
          </a:solidFill>
          <a:ln/>
        </p:spPr>
      </p:sp>
      <p:sp>
        <p:nvSpPr>
          <p:cNvPr id="164" name="Text 162"/>
          <p:cNvSpPr/>
          <p:nvPr/>
        </p:nvSpPr>
        <p:spPr>
          <a:xfrm>
            <a:off x="630936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Valencia, Carabobo  ·  SmartSolutions VE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166" name="Text 16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100" kern="0" dirty="0">
                <a:solidFill>
                  <a:srgbClr val="0066FF"/>
                </a:solidFill>
              </a:rPr>
              <a:t>«Procesos Alineados, Decisiones Inteligentes.»  —  SmartSolutions 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SmartSales para FAPARCA — SmartSolutions VE</dc:title>
  <dc:subject>PptxGenJS Presentation</dc:subject>
  <dc:creator>PptxGenJS</dc:creator>
  <cp:lastModifiedBy>PptxGenJS</cp:lastModifiedBy>
  <cp:revision>1</cp:revision>
  <dcterms:created xsi:type="dcterms:W3CDTF">2026-03-24T23:54:33Z</dcterms:created>
  <dcterms:modified xsi:type="dcterms:W3CDTF">2026-03-24T23:54:33Z</dcterms:modified>
</cp:coreProperties>
</file>